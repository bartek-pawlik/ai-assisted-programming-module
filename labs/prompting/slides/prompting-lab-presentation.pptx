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rgbClr val="6B46C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Tasks 1-7</c:v>
                </c:pt>
                <c:pt idx="1">
                  <c:v>Task 8</c:v>
                </c:pt>
                <c:pt idx="2">
                  <c:v>Task 9</c:v>
                </c:pt>
                <c:pt idx="3">
                  <c:v>Task 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70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DD-4007-A8D8-9FFE1ADC6D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Lab Components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Score Weight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03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95" y="1068437"/>
            <a:ext cx="904346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for Programmers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195" y="3103513"/>
            <a:ext cx="90434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Vague Asks to Reproducible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15244" y="4201865"/>
            <a:ext cx="90434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Art of Communicating with AI Assistants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60613" y="3611463"/>
            <a:ext cx="3622477" cy="463451"/>
          </a:xfrm>
          <a:prstGeom prst="roundRect">
            <a:avLst>
              <a:gd name="adj" fmla="val 68508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35284" y="3738414"/>
            <a:ext cx="3073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 | 10 Tasks | Hands-On 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5B21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233172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3600" dirty="0"/>
          </a:p>
        </p:txBody>
      </p:sp>
      <p:pic>
        <p:nvPicPr>
          <p:cNvPr id="4" name="Image 0" descr="/home/claude/icon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51" y="381000"/>
            <a:ext cx="279350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41602" y="381000"/>
            <a:ext cx="448233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SPEC framework to transform vague requests into clear, actionable prompts</a:t>
            </a:r>
            <a:endParaRPr lang="en-US" sz="1400" dirty="0"/>
          </a:p>
        </p:txBody>
      </p:sp>
      <p:pic>
        <p:nvPicPr>
          <p:cNvPr id="6" name="Image 1" descr="/home/claude/icon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51" y="1020961"/>
            <a:ext cx="279350" cy="279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41602" y="1020961"/>
            <a:ext cx="448233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constraints and non-goals to prevent scope creep and unwanted AI responses</a:t>
            </a:r>
            <a:endParaRPr lang="en-US" sz="1400" dirty="0"/>
          </a:p>
        </p:txBody>
      </p:sp>
      <p:pic>
        <p:nvPicPr>
          <p:cNvPr id="8" name="Image 2" descr="/home/claude/icon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51" y="1660922"/>
            <a:ext cx="279350" cy="2793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41602" y="1660922"/>
            <a:ext cx="448233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strategic clarifying questions before writing any code</a:t>
            </a:r>
            <a:endParaRPr lang="en-US" sz="1400" dirty="0"/>
          </a:p>
        </p:txBody>
      </p:sp>
      <p:pic>
        <p:nvPicPr>
          <p:cNvPr id="10" name="Image 3" descr="/home/claude/icon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51" y="2300883"/>
            <a:ext cx="279350" cy="2793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41602" y="2300883"/>
            <a:ext cx="448233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advanced patterns: Persona, Chain-of-Thought, and Few-Shot prompting</a:t>
            </a:r>
            <a:endParaRPr lang="en-US" sz="1400" dirty="0"/>
          </a:p>
        </p:txBody>
      </p:sp>
      <p:pic>
        <p:nvPicPr>
          <p:cNvPr id="12" name="Image 4" descr="/home/claude/icon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51" y="2940844"/>
            <a:ext cx="279350" cy="2793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241602" y="2940844"/>
            <a:ext cx="448233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tests-first approach and request patch-style code changes</a:t>
            </a:r>
            <a:endParaRPr lang="en-US" sz="1400" dirty="0"/>
          </a:p>
        </p:txBody>
      </p:sp>
      <p:pic>
        <p:nvPicPr>
          <p:cNvPr id="14" name="Image 5" descr="/home/claude/icon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51" y="3580805"/>
            <a:ext cx="279350" cy="2793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241602" y="3580805"/>
            <a:ext cx="439322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AI limitations and defend against hallucinations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568351"/>
          </a:xfrm>
          <a:prstGeom prst="rect">
            <a:avLst/>
          </a:prstGeom>
          <a:solidFill>
            <a:srgbClr val="5B21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Vague Prompts = Unpredictable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6525" y="1822252"/>
            <a:ext cx="0" cy="2686348"/>
          </a:xfrm>
          <a:prstGeom prst="line">
            <a:avLst/>
          </a:prstGeom>
          <a:noFill/>
          <a:ln w="571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5" name="Image 0" descr="/home/claude/icon-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0" y="1822252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3801" y="1841302"/>
            <a:ext cx="1567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Prompt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7500" y="2279452"/>
            <a:ext cx="3702100" cy="1601093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82551" y="2444502"/>
            <a:ext cx="343943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"Write a function to get the second largest number from a list."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2551" y="2942183"/>
            <a:ext cx="3371999" cy="773311"/>
          </a:xfrm>
          <a:prstGeom prst="roundRect">
            <a:avLst>
              <a:gd name="adj" fmla="val 985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96851" y="3056483"/>
            <a:ext cx="3206267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might return duplicate values, use O(n²) sorting, add unnecessary dependencies, or handle edge cases poorly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00575" y="1822252"/>
            <a:ext cx="0" cy="2686348"/>
          </a:xfrm>
          <a:prstGeom prst="line">
            <a:avLst/>
          </a:prstGeom>
          <a:noFill/>
          <a:ln w="571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12" name="Image 1" descr="/home/claude/icon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0" y="1822252"/>
            <a:ext cx="304800" cy="304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87851" y="1841302"/>
            <a:ext cx="14641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Prompt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81550" y="2279452"/>
            <a:ext cx="3702100" cy="1815703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946600" y="2444502"/>
            <a:ext cx="3439439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"Python function: second_largest(nums: list[int]) → int. Return 2nd largest UNIQUE integer. Example: [5,1,5,2] → 2. Raise ValueError if &lt;2 unique values. No external libraries."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46600" y="3338364"/>
            <a:ext cx="3371999" cy="591741"/>
          </a:xfrm>
          <a:prstGeom prst="roundRect">
            <a:avLst>
              <a:gd name="adj" fmla="val 1287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060900" y="3452664"/>
            <a:ext cx="320626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returns exactly what you need: correct logic, proper error handling, minimal dependencies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568351"/>
          </a:xfrm>
          <a:prstGeom prst="rect">
            <a:avLst/>
          </a:prstGeom>
          <a:solidFill>
            <a:srgbClr val="5B21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 Framework: Your Prompting Foundation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2056209"/>
            <a:ext cx="1860649" cy="1935956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3475" y="2284809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25940" y="2403872"/>
            <a:ext cx="2246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22516" y="3046809"/>
            <a:ext cx="14315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Goal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2516" y="3367385"/>
            <a:ext cx="143151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do you want?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97200" y="2056209"/>
            <a:ext cx="1860649" cy="1935956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22724" y="2284809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15189" y="2403872"/>
            <a:ext cx="2246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11765" y="3046809"/>
            <a:ext cx="14315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1765" y="3367385"/>
            <a:ext cx="143151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Language, file, signature?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6449" y="2056209"/>
            <a:ext cx="1860649" cy="1935956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11973" y="2284809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4438" y="2403872"/>
            <a:ext cx="2246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01014" y="3046809"/>
            <a:ext cx="14315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01014" y="3367385"/>
            <a:ext cx="143151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input →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75698" y="2056209"/>
            <a:ext cx="1860649" cy="1935956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01223" y="2284809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84427" y="2403872"/>
            <a:ext cx="24319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90264" y="3046809"/>
            <a:ext cx="14315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0264" y="3367385"/>
            <a:ext cx="143151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Limits, rules, non-goals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6669" y="4246066"/>
            <a:ext cx="8290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framework for EVERY prompt you write in this lab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8276"/>
          </a:xfrm>
          <a:prstGeom prst="rect">
            <a:avLst/>
          </a:prstGeom>
          <a:solidFill>
            <a:srgbClr val="5B21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793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in Action: Complete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22177"/>
            <a:ext cx="3924449" cy="3819674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425327"/>
            <a:ext cx="35885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1101" y="1752302"/>
            <a:ext cx="358851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Python function returning 2nd largest UNIQUE integer from list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1101" y="2194173"/>
            <a:ext cx="358851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Programming: Python 3.11, signature: second_largest(nums: list[int]) → 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1101" y="2636044"/>
            <a:ext cx="358851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Examples: [5,1,5,2] → 2 | [10,10,10] → ValueError | [7,3] →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101" y="3077914"/>
            <a:ext cx="3588511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ValueError if &lt;2 unique values, no external libs, readability over speed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1101" y="3715345"/>
            <a:ext cx="358851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Return: Function code + docstring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11750" y="1222177"/>
            <a:ext cx="3924449" cy="3819674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425327"/>
            <a:ext cx="35885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4900" y="1752302"/>
            <a:ext cx="3518148" cy="1547813"/>
          </a:xfrm>
          <a:prstGeom prst="roundRect">
            <a:avLst>
              <a:gd name="adj" fmla="val 492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41850" y="1879253"/>
            <a:ext cx="332953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second_largest(nums):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1850" y="2094905"/>
            <a:ext cx="332953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"""Return 2nd largest unique int."""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41850" y="2310557"/>
            <a:ext cx="332953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= sorted(set(nums), reverse=True)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1850" y="2526209"/>
            <a:ext cx="332953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len(unique) &lt; 2: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41850" y="2741861"/>
            <a:ext cx="332953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ValueError("Need ≥2 unique")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41850" y="2957513"/>
            <a:ext cx="332953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unique[1]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4900" y="3452515"/>
            <a:ext cx="3518148" cy="748605"/>
          </a:xfrm>
          <a:prstGeom prst="roundRect">
            <a:avLst>
              <a:gd name="adj" fmla="val 1017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938713" y="3452515"/>
            <a:ext cx="0" cy="748605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5089475" y="3579465"/>
            <a:ext cx="3280955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works:</a:t>
            </a: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goal, exact signature, edge cases shown, constraints prevent bloat. AI knows exactly what to deliver.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5B21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Prompting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9076"/>
            <a:ext cx="2573982" cy="3216473"/>
          </a:xfrm>
          <a:prstGeom prst="roundRect">
            <a:avLst>
              <a:gd name="adj" fmla="val 493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home/claude/icon-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167" y="1647676"/>
            <a:ext cx="533400" cy="53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5383" y="2333476"/>
            <a:ext cx="21591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5383" y="2692152"/>
            <a:ext cx="215911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adopt an expert role for specialized feedback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6550" y="3182243"/>
            <a:ext cx="2116782" cy="1078409"/>
          </a:xfrm>
          <a:prstGeom prst="roundRect">
            <a:avLst>
              <a:gd name="adj" fmla="val 706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63501" y="3309193"/>
            <a:ext cx="190013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3501" y="3474095"/>
            <a:ext cx="1900139" cy="65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senior Python + security engineer. Review for correctness, security, and readability."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85083" y="1419076"/>
            <a:ext cx="2573982" cy="3216473"/>
          </a:xfrm>
          <a:prstGeom prst="roundRect">
            <a:avLst>
              <a:gd name="adj" fmla="val 493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/home/claude/icon-c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647676"/>
            <a:ext cx="533400" cy="533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2515" y="2333476"/>
            <a:ext cx="21591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492515" y="2692152"/>
            <a:ext cx="215911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step-by-step reasoning before the solution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13683" y="3182243"/>
            <a:ext cx="2116782" cy="913507"/>
          </a:xfrm>
          <a:prstGeom prst="roundRect">
            <a:avLst>
              <a:gd name="adj" fmla="val 8341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640634" y="3309193"/>
            <a:ext cx="190013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40634" y="3474095"/>
            <a:ext cx="190013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step-by-step. First identify the bug, then test hypotheses, then provide minimal fix."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062216" y="1419076"/>
            <a:ext cx="2573982" cy="3216473"/>
          </a:xfrm>
          <a:prstGeom prst="roundRect">
            <a:avLst>
              <a:gd name="adj" fmla="val 493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/home/claude/icon-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33" y="1647676"/>
            <a:ext cx="533400" cy="533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9648" y="2333476"/>
            <a:ext cx="21591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269648" y="2692152"/>
            <a:ext cx="215911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2-3 examples to control exact output format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90816" y="3182243"/>
            <a:ext cx="2116782" cy="1078409"/>
          </a:xfrm>
          <a:prstGeom prst="roundRect">
            <a:avLst>
              <a:gd name="adj" fmla="val 706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417766" y="3309193"/>
            <a:ext cx="190013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17766" y="3474095"/>
            <a:ext cx="1900139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"Alpha:1" → Output: alpha,1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17766" y="3803898"/>
            <a:ext cx="190013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"Beta:2" → Output: beta,2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17766" y="3968800"/>
            <a:ext cx="190013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transform: "Gamma:3"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568351"/>
          </a:xfrm>
          <a:prstGeom prst="rect">
            <a:avLst/>
          </a:prstGeom>
          <a:solidFill>
            <a:srgbClr val="5B21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Tests-First Approach: Prevent Over-Engineering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902470"/>
            <a:ext cx="2184499" cy="1705868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931045"/>
            <a:ext cx="2184499" cy="0"/>
          </a:xfrm>
          <a:prstGeom prst="line">
            <a:avLst/>
          </a:prstGeom>
          <a:noFill/>
          <a:ln w="5715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1524000" y="2162770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62179" y="2232571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0269" y="2721471"/>
            <a:ext cx="18137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0269" y="3042047"/>
            <a:ext cx="181376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expected behavior with concrete examples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2550616"/>
            <a:ext cx="362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9750" y="1902470"/>
            <a:ext cx="2184499" cy="1705868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79750" y="1931045"/>
            <a:ext cx="2184499" cy="0"/>
          </a:xfrm>
          <a:prstGeom prst="line">
            <a:avLst/>
          </a:prstGeom>
          <a:noFill/>
          <a:ln w="5715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368850" y="2162770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7029" y="2232571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65119" y="2721471"/>
            <a:ext cx="18137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65119" y="3042047"/>
            <a:ext cx="181376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 ONLY what's needed to pass these tests"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16650" y="2550616"/>
            <a:ext cx="362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24600" y="1902470"/>
            <a:ext cx="2184499" cy="1705868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24600" y="1931045"/>
            <a:ext cx="2184499" cy="0"/>
          </a:xfrm>
          <a:prstGeom prst="line">
            <a:avLst/>
          </a:prstGeom>
          <a:noFill/>
          <a:ln w="5715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7213699" y="2162770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51879" y="2232571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09968" y="2721471"/>
            <a:ext cx="18137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09968" y="3042047"/>
            <a:ext cx="181376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tests, check for minimal 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901" y="3862239"/>
            <a:ext cx="7874198" cy="756642"/>
          </a:xfrm>
          <a:prstGeom prst="roundRect">
            <a:avLst>
              <a:gd name="adj" fmla="val 1342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63476" y="3862239"/>
            <a:ext cx="0" cy="756642"/>
          </a:xfrm>
          <a:prstGeom prst="line">
            <a:avLst/>
          </a:prstGeom>
          <a:noFill/>
          <a:ln w="571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857101" y="4027289"/>
            <a:ext cx="763668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r>
              <a:rPr lang="en-US" sz="12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Prevents bloat • Forces AI to focus on requirements • Makes code changes surgical (patch/diff) • Easier to review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5B21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Structure: 10 Tasks, 90 Minutes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55527"/>
            <a:ext cx="1911400" cy="726728"/>
          </a:xfrm>
          <a:prstGeom prst="roundRect">
            <a:avLst>
              <a:gd name="adj" fmla="val 139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355527"/>
            <a:ext cx="0" cy="726728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69875" y="1469827"/>
            <a:ext cx="1667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1-3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9875" y="1663452"/>
            <a:ext cx="1667878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Practice &amp; Constraints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3650" y="1355527"/>
            <a:ext cx="1911400" cy="726728"/>
          </a:xfrm>
          <a:prstGeom prst="roundRect">
            <a:avLst>
              <a:gd name="adj" fmla="val 139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57463" y="1355527"/>
            <a:ext cx="0" cy="726728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2695575" y="1469827"/>
            <a:ext cx="1667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5575" y="1663452"/>
            <a:ext cx="166787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Clarifying Questions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196554"/>
            <a:ext cx="1911400" cy="574477"/>
          </a:xfrm>
          <a:prstGeom prst="roundRect">
            <a:avLst>
              <a:gd name="adj" fmla="val 176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2196554"/>
            <a:ext cx="0" cy="574477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669875" y="2310854"/>
            <a:ext cx="1667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5-7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9875" y="2504480"/>
            <a:ext cx="166787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3650" y="2196554"/>
            <a:ext cx="1911400" cy="574477"/>
          </a:xfrm>
          <a:prstGeom prst="roundRect">
            <a:avLst>
              <a:gd name="adj" fmla="val 176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57463" y="2196554"/>
            <a:ext cx="0" cy="574477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2695575" y="2310854"/>
            <a:ext cx="1667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5575" y="2504480"/>
            <a:ext cx="166787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Tests-First Implementation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950" y="2885331"/>
            <a:ext cx="1911400" cy="574477"/>
          </a:xfrm>
          <a:prstGeom prst="roundRect">
            <a:avLst>
              <a:gd name="adj" fmla="val 176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31763" y="2885331"/>
            <a:ext cx="0" cy="574477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669875" y="2999631"/>
            <a:ext cx="1667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9875" y="3193256"/>
            <a:ext cx="166787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Patch/Diff Changes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33650" y="2885331"/>
            <a:ext cx="1911400" cy="574477"/>
          </a:xfrm>
          <a:prstGeom prst="roundRect">
            <a:avLst>
              <a:gd name="adj" fmla="val 176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557463" y="2885331"/>
            <a:ext cx="0" cy="574477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2695575" y="2999631"/>
            <a:ext cx="1667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5575" y="3193256"/>
            <a:ext cx="166787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Insights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8950" y="1355527"/>
            <a:ext cx="3937099" cy="3571577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66793" y="1558677"/>
            <a:ext cx="360141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Breakdown</a:t>
            </a:r>
            <a:endParaRPr lang="en-US" sz="15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4902101" y="1904702"/>
          <a:ext cx="3530798" cy="24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5B21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 &amp; Defense Strategies</a:t>
            </a:r>
            <a:endParaRPr lang="en-US" sz="3200" dirty="0"/>
          </a:p>
        </p:txBody>
      </p:sp>
      <p:pic>
        <p:nvPicPr>
          <p:cNvPr id="4" name="Image 0" descr="/home/claude/icon-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1330226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251" y="1363563"/>
            <a:ext cx="14196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For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7950" y="1787426"/>
            <a:ext cx="3937099" cy="568821"/>
          </a:xfrm>
          <a:prstGeom prst="roundRect">
            <a:avLst>
              <a:gd name="adj" fmla="val 178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31763" y="1787426"/>
            <a:ext cx="0" cy="56882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5"/>
          <p:cNvSpPr/>
          <p:nvPr/>
        </p:nvSpPr>
        <p:spPr>
          <a:xfrm>
            <a:off x="669875" y="1901726"/>
            <a:ext cx="37340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APIs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9875" y="2104876"/>
            <a:ext cx="373409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invents functions that don't exist (e.g., urlparse.get_domain())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7950" y="2457748"/>
            <a:ext cx="3937099" cy="568821"/>
          </a:xfrm>
          <a:prstGeom prst="roundRect">
            <a:avLst>
              <a:gd name="adj" fmla="val 178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31763" y="2457748"/>
            <a:ext cx="0" cy="56882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/>
          <p:nvPr/>
        </p:nvSpPr>
        <p:spPr>
          <a:xfrm>
            <a:off x="669875" y="2572048"/>
            <a:ext cx="37340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9875" y="2775198"/>
            <a:ext cx="373409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adds features you didn't ask for (database caching, logging, etc.)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7950" y="3128070"/>
            <a:ext cx="3937099" cy="568821"/>
          </a:xfrm>
          <a:prstGeom prst="roundRect">
            <a:avLst>
              <a:gd name="adj" fmla="val 178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31763" y="3128070"/>
            <a:ext cx="0" cy="56882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3"/>
          <p:cNvSpPr/>
          <p:nvPr/>
        </p:nvSpPr>
        <p:spPr>
          <a:xfrm>
            <a:off x="669875" y="3242370"/>
            <a:ext cx="37340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9875" y="3445520"/>
            <a:ext cx="373409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lines when 10 would work, unnecessary abstractions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7950" y="3798391"/>
            <a:ext cx="3937099" cy="568821"/>
          </a:xfrm>
          <a:prstGeom prst="roundRect">
            <a:avLst>
              <a:gd name="adj" fmla="val 178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31763" y="3798391"/>
            <a:ext cx="0" cy="56882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7"/>
          <p:cNvSpPr/>
          <p:nvPr/>
        </p:nvSpPr>
        <p:spPr>
          <a:xfrm>
            <a:off x="669875" y="3912691"/>
            <a:ext cx="37340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 Constraints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9875" y="4115842"/>
            <a:ext cx="373409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"no loops" but AI uses loops anyway</a:t>
            </a:r>
            <a:endParaRPr lang="en-US" sz="900" dirty="0"/>
          </a:p>
        </p:txBody>
      </p:sp>
      <p:pic>
        <p:nvPicPr>
          <p:cNvPr id="22" name="Image 1" descr="/home/claude/icon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950" y="1330226"/>
            <a:ext cx="304800" cy="3048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05251" y="1363563"/>
            <a:ext cx="15625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Tactics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698950" y="1787426"/>
            <a:ext cx="3937099" cy="568821"/>
          </a:xfrm>
          <a:prstGeom prst="roundRect">
            <a:avLst>
              <a:gd name="adj" fmla="val 178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4722763" y="1787426"/>
            <a:ext cx="0" cy="568821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2"/>
          <p:cNvSpPr/>
          <p:nvPr/>
        </p:nvSpPr>
        <p:spPr>
          <a:xfrm>
            <a:off x="4860875" y="1901726"/>
            <a:ext cx="37340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Citations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860875" y="2104876"/>
            <a:ext cx="373409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"Cite source or confirm if speculative"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698950" y="2457748"/>
            <a:ext cx="3937099" cy="568821"/>
          </a:xfrm>
          <a:prstGeom prst="roundRect">
            <a:avLst>
              <a:gd name="adj" fmla="val 178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5"/>
          <p:cNvSpPr/>
          <p:nvPr/>
        </p:nvSpPr>
        <p:spPr>
          <a:xfrm>
            <a:off x="4722763" y="2457748"/>
            <a:ext cx="0" cy="568821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26"/>
          <p:cNvSpPr/>
          <p:nvPr/>
        </p:nvSpPr>
        <p:spPr>
          <a:xfrm>
            <a:off x="4860875" y="2572048"/>
            <a:ext cx="37340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Non-Goals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60875" y="2775198"/>
            <a:ext cx="373409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NOT add: caching, logging, auth"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698950" y="3128070"/>
            <a:ext cx="3937099" cy="568821"/>
          </a:xfrm>
          <a:prstGeom prst="roundRect">
            <a:avLst>
              <a:gd name="adj" fmla="val 178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4722763" y="3128070"/>
            <a:ext cx="0" cy="568821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Text 30"/>
          <p:cNvSpPr/>
          <p:nvPr/>
        </p:nvSpPr>
        <p:spPr>
          <a:xfrm>
            <a:off x="4860875" y="3242370"/>
            <a:ext cx="37340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Tests-First Enforcement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860875" y="3445520"/>
            <a:ext cx="373409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 ONLY what passes these tests"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698950" y="3798391"/>
            <a:ext cx="3937099" cy="568821"/>
          </a:xfrm>
          <a:prstGeom prst="roundRect">
            <a:avLst>
              <a:gd name="adj" fmla="val 178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3"/>
          <p:cNvSpPr/>
          <p:nvPr/>
        </p:nvSpPr>
        <p:spPr>
          <a:xfrm>
            <a:off x="4722763" y="3798391"/>
            <a:ext cx="0" cy="568821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Text 34"/>
          <p:cNvSpPr/>
          <p:nvPr/>
        </p:nvSpPr>
        <p:spPr>
          <a:xfrm>
            <a:off x="4860875" y="3912691"/>
            <a:ext cx="37340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Code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860875" y="4115842"/>
            <a:ext cx="373409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tests, check docs, review diffs carefully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734</Words>
  <Application>Microsoft Office PowerPoint</Application>
  <PresentationFormat>On-screen Show (16:9)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Prompting for Programmers</dc:title>
  <dc:subject>PptxGenJS Presentation</dc:subject>
  <dc:creator>AI Assisted Programming Lab</dc:creator>
  <cp:lastModifiedBy>Daniel Cregg</cp:lastModifiedBy>
  <cp:revision>2</cp:revision>
  <dcterms:created xsi:type="dcterms:W3CDTF">2025-09-30T14:35:07Z</dcterms:created>
  <dcterms:modified xsi:type="dcterms:W3CDTF">2025-09-30T14:41:34Z</dcterms:modified>
</cp:coreProperties>
</file>